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7347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  •  INGENIERÍA WEB  •  PERIODO 2620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5196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PROPUESTA CONCEPTUAL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4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1280160"/>
            <a:ext cx="2286000" cy="2286000"/>
          </a:xfrm>
          <a:prstGeom prst="ellipse">
            <a:avLst/>
          </a:prstGeom>
          <a:solidFill>
            <a:srgbClr val="183448">
              <a:alpha val="0"/>
            </a:srgbClr>
          </a:solidFill>
          <a:ln w="19050">
            <a:solidFill>
              <a:srgbClr val="4C8B8B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1645920"/>
            <a:ext cx="1554480" cy="1554480"/>
          </a:xfrm>
          <a:prstGeom prst="ellipse">
            <a:avLst/>
          </a:prstGeom>
          <a:solidFill>
            <a:srgbClr val="183448">
              <a:alpha val="0"/>
            </a:srgbClr>
          </a:solidFill>
          <a:ln w="12700">
            <a:solidFill>
              <a:srgbClr val="4C8B8B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1956816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6024" y="1975104"/>
            <a:ext cx="804672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⌖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713232" y="768096"/>
            <a:ext cx="62179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C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  •  INGENIERÍA WEB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61872"/>
            <a:ext cx="67665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Brújula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Académica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49808" y="2971800"/>
            <a:ext cx="658368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D7E7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Plataforma web semántica de recomendaciones académicas para estudiantes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49808" y="3931920"/>
            <a:ext cx="8211312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Cooperativa de Colombia  |  Facultad de Ingeniería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Periodo 2620  •  </a:t>
            </a:r>
            <a:r>
              <a:rPr lang="en-US" sz="1200" dirty="0" err="1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Integrantes</a:t>
            </a:r>
            <a:r>
              <a:rPr lang="en-US" sz="1200" dirty="0">
                <a:solidFill>
                  <a:srgbClr val="B7C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Jesús Rendón, Andres Araos,  Eduardo Castillo •  Docente: Sergio Lubo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•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Encontrar un recurso no es lo mismo que elegir el adecuado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conecta intereses, competencias, recursos y una explicación legible.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Catálogos dispersos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Muchos tutoriales y cursos; cuesta comparar nivel, duración, modalidad y pertinencia.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34256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34256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5424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superficial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35424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coincidencia por palabra clave no explica cómo un recurso ayuda a lograr un objetivo.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73736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737360"/>
            <a:ext cx="64008" cy="182880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883664"/>
            <a:ext cx="31363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Poca trazabilidad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7888" y="2221992"/>
            <a:ext cx="3136392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 modelo compartido, es difícil relacionar temas, competencias y recomendaciones.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" y="3977640"/>
            <a:ext cx="10945368" cy="1417320"/>
          </a:xfrm>
          <a:prstGeom prst="roundRect">
            <a:avLst>
              <a:gd name="adj" fmla="val 7742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233672"/>
            <a:ext cx="21031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4C6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orientadora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07792" y="4187952"/>
            <a:ext cx="81838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diseñar una solución web semántica que recomiende recursos con explicación y permita consultar las relaciones que originan cada sugerencia?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" y="5715000"/>
            <a:ext cx="10607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responsable: apoyar el aprendizaje, sin calificar ni automatizar decisiones académicas de alto impacto.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• SOLUCIÓN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ruta académica personalizada y explicable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recomendaciones combinan coincidencia temática, competencia objetivo, nivel y tiempo estimado.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179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Estudiante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 intereses, explora recursos y decide qué guardar o descartar.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Asesor académico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necesidades agregadas para orientar talleres y material de apoyo.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19872" y="1691640"/>
            <a:ext cx="3456432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691640"/>
            <a:ext cx="64008" cy="146304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3794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Curador de contenidos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176272"/>
            <a:ext cx="3072384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Mantiene recursos y su relación con temas, competencias, dificultad y duración.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3566160"/>
            <a:ext cx="45720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 principales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123944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5256" y="4041648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 intereses y objetivos académicos.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517136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5256" y="4434840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 y filtrar catálogo por tema, nivel, modalidad y horas.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31520" y="4910328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" y="4828032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recomendaciones con explicación del motivo.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5221224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Guardar, ocultar, completar o valorar recursos.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" y="5696712"/>
            <a:ext cx="82296" cy="82296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5614416"/>
            <a:ext cx="5861304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grafo de conocimiento y resúmenes agregados.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315200" y="3657600"/>
            <a:ext cx="3977640" cy="2057400"/>
          </a:xfrm>
          <a:prstGeom prst="roundRect">
            <a:avLst>
              <a:gd name="adj" fmla="val 5333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886200"/>
            <a:ext cx="3429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del proyecto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589520" y="4343400"/>
            <a:ext cx="333756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131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conceptual + prototipo navegable + OWL + consultas Cypher + contratos REST/SOAP.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89520" y="5166360"/>
            <a:ext cx="33375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requieren datos reales ni una aplicación conectada a sistemas institucionales.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•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Separar interfaz, lógica, semántica y persistencia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lógico en capas, no un despliegue productivo.</a:t>
            </a:r>
            <a:endParaRPr lang="en-US" sz="1200" dirty="0"/>
          </a:p>
        </p:txBody>
      </p:sp>
      <p:pic>
        <p:nvPicPr>
          <p:cNvPr id="5" name="Image 0" descr="/mnt/data/Brújula_Academica/diagramas/arquitectura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81328"/>
            <a:ext cx="7863840" cy="4526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664208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732520" y="1664208"/>
            <a:ext cx="64008" cy="109728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33688" y="1810512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 API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33688" y="2148840"/>
            <a:ext cx="24505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uniforme con JSON y métodos HTTP.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732520" y="2971800"/>
            <a:ext cx="28346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32520" y="2971800"/>
            <a:ext cx="64008" cy="109728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33688" y="3118104"/>
            <a:ext cx="24505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 / Protégé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933688" y="3456432"/>
            <a:ext cx="245059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Vocabulario formal, restricciones e inferencias.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" y="6108192"/>
            <a:ext cx="98755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que orientan: Fielding (2000); Hincapié Londoño &amp; Duitama (2012).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• METODOLOGÍA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UWE mantiene separados los modelos para evitar contradicciones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fases producen artefactos que se conectan con las necesidades de los usuarios.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8988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Problema, actores, RF/RNF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464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8464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Entidades y relaciones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69164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87452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189280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9408" y="185623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Navegación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979408" y="222199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Rutas y destinos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8988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y componentes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3484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464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Lógica/servicios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18464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REST, reglas, grafo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3383280"/>
            <a:ext cx="34747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3566160"/>
            <a:ext cx="411480" cy="411480"/>
          </a:xfrm>
          <a:prstGeom prst="ellipse">
            <a:avLst/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3584448"/>
            <a:ext cx="411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79408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79408" y="3913632"/>
            <a:ext cx="2423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y refinamiento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" y="5358384"/>
            <a:ext cx="10954512" cy="566928"/>
          </a:xfrm>
          <a:prstGeom prst="roundRect">
            <a:avLst>
              <a:gd name="adj" fmla="val 19355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5504688"/>
            <a:ext cx="1056132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Ventaja: trazabilidad y revisión temprana. Límite: los modelos no prueban por sí solos la eficacia pedagógica.</a:t>
            </a:r>
            <a:endParaRPr lang="en-US" sz="12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• MODELO CONCEPTUAL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entidades comparten un vocabulario de dominio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relaciones conectan interés, competencias, recursos, recomendaciones y retroalimentación.</a:t>
            </a:r>
            <a:endParaRPr lang="en-US" sz="1200" dirty="0"/>
          </a:p>
        </p:txBody>
      </p:sp>
      <p:pic>
        <p:nvPicPr>
          <p:cNvPr id="5" name="Image 0" descr="/mnt/data/Brújula_Academica/diagramas/modelo_concep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1328"/>
            <a:ext cx="10972800" cy="4297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961888"/>
            <a:ext cx="10607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OWL define dominios/rangos y restricciones sobre este vocabulario.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• NAVEGACIÓN Y PROTOTIPO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ruta principal se organiza por tareas del estudiante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→ perfil / autoevaluación → recomendaciones explicadas → detalle → retroalimentación.</a:t>
            </a:r>
            <a:endParaRPr lang="en-US" sz="1200" dirty="0"/>
          </a:p>
        </p:txBody>
      </p:sp>
      <p:pic>
        <p:nvPicPr>
          <p:cNvPr id="5" name="Image 0" descr="/mnt/data/Brújula_Academica/diagramas/modelo_navegac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72768"/>
            <a:ext cx="566928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10528" y="160020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10528" y="1600200"/>
            <a:ext cx="5074920" cy="365760"/>
          </a:xfrm>
          <a:prstGeom prst="roundRect">
            <a:avLst>
              <a:gd name="adj" fmla="val 30000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93408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0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22592" y="1719072"/>
            <a:ext cx="73152" cy="73152"/>
          </a:xfrm>
          <a:prstGeom prst="ellipse">
            <a:avLst/>
          </a:prstGeom>
          <a:solidFill>
            <a:srgbClr val="B5C7CE"/>
          </a:solidFill>
          <a:ln w="12700">
            <a:solidFill>
              <a:srgbClr val="B5C7C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122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93992" y="2496312"/>
            <a:ext cx="4526280" cy="777240"/>
          </a:xfrm>
          <a:prstGeom prst="roundRect">
            <a:avLst>
              <a:gd name="adj" fmla="val 14118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95160" y="2651760"/>
            <a:ext cx="41605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Hola, Ana. Pequeños pasos, grandes avances.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784848" y="3456432"/>
            <a:ext cx="4553712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31152" y="35935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9440" y="3611880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479792" y="3547872"/>
            <a:ext cx="2423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desde cero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966960" y="3547872"/>
            <a:ext cx="114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 de afinidad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479792" y="3840480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Coincide con tu interés en programación.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84848" y="4443984"/>
            <a:ext cx="4553712" cy="850392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31152" y="458114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0" y="4599432"/>
            <a:ext cx="365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⌘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7479792" y="4535424"/>
            <a:ext cx="242316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Retos de lógica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966960" y="4535424"/>
            <a:ext cx="1143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88% de afinidad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479792" y="4828032"/>
            <a:ext cx="35661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Refuerza una competencia por practicar.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3232" y="5943600"/>
            <a:ext cx="106984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HTML: filtros, búsqueda, vista por rol y acciones locales. Sin base de datos.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• ONTOLOGÍA OWL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Más que un diagrama: una especificación semántica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BrujulaAcademica.owl incluye clases, propiedades, dominios/rangos, restricciones e individuos sintéticos.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54480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11296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75888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07408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propiedades de objeto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64224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60336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propiedades de datos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17152" y="1664208"/>
            <a:ext cx="2542032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81744" y="1810512"/>
            <a:ext cx="71323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0113264" y="1847088"/>
            <a:ext cx="1463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 mínimas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Restricciones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tiene exactamente un perfil; Recommendation se genera para un estudiante; cada recomendación sugiere algún recurso.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70832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0832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 inferida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recurso que fortalece una competencia de programación puede inferirse como ProgrammingResource.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65008" y="2999232"/>
            <a:ext cx="3456432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5008" y="2999232"/>
            <a:ext cx="64008" cy="141732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66176" y="3145536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requerida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266176" y="3483864"/>
            <a:ext cx="3072384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Abrir en Protégé, ejecutar HermiT y capturar consistencia e individuos inferidos.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4892040"/>
            <a:ext cx="10881360" cy="777240"/>
          </a:xfrm>
          <a:prstGeom prst="roundRect">
            <a:avLst>
              <a:gd name="adj" fmla="val 14118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02352"/>
            <a:ext cx="104698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afirmamos que el razonador ya fue ejecutado: las evidencias deben generarse en la instalación real del equipo.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" y="5989320"/>
            <a:ext cx="9144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Fundamento: Noy &amp; McGuinness (2001); W3C (2012).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• GRAFO DE CONOCIMIENTO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relaciones permiten encontrar sugerencias no registradas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estudiante → perfil → tema ← recurso puede crear candidatos nuevos y explicar la conexión.</a:t>
            </a:r>
            <a:endParaRPr lang="en-US" sz="1200" dirty="0"/>
          </a:p>
        </p:txBody>
      </p:sp>
      <p:pic>
        <p:nvPicPr>
          <p:cNvPr id="5" name="Image 0" descr="/mnt/data/Brújula_Academica/diagramas/grafo_conoci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00200"/>
            <a:ext cx="694944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45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18120" y="1645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19288" y="1792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1 • existentes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19288" y="2130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recomendó, puntaje, competencias y explicación.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818120" y="2788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8120" y="2788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2935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2 • inferida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019288" y="3273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Encuentra recursos por interés y competencia no registrada directamente.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818120" y="3931920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18120" y="3931920"/>
            <a:ext cx="64008" cy="960120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19288" y="4078224"/>
            <a:ext cx="3364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3 • agregado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19288" y="4416552"/>
            <a:ext cx="3364992" cy="356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Patrones por tema para orientar talleres, con controles de privacidad.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4944" y="5440680"/>
            <a:ext cx="10863072" cy="502920"/>
          </a:xfrm>
          <a:prstGeom prst="roundRect">
            <a:avLst>
              <a:gd name="adj" fmla="val 21818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5577840"/>
            <a:ext cx="104241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 de semilla + 4 consultas de negocio + consultas de verificación en Cypher.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• SERVICIOS WEB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REST como interfaz principal; SOAP/WSDL para interoperabilidad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 conceptuales entregados en OpenAPI y WSDL. Las direcciones example.org son marcadores.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04088" y="1554480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609344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45920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19072" y="1645920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/students/{id}/profile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perfil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4088" y="2075688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30552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E7E1FA"/>
          </a:solidFill>
          <a:ln w="12700">
            <a:solidFill>
              <a:srgbClr val="E7E1F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167128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19072" y="2167128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/students/{id}/profile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167128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intereses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4088" y="2596896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651760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2688336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719072" y="2688336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/students/{id}/recommendations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688336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sugerencias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" y="3118104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172968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209544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719072" y="3209544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/resources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209544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Filtrar catálogo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4088" y="3639312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694176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FCEED2"/>
          </a:solidFill>
          <a:ln w="12700">
            <a:solidFill>
              <a:srgbClr val="FCEED2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3730752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19072" y="3730752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/recommendations/{id}/feedback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3730752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valoración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" y="4160520"/>
            <a:ext cx="10744200" cy="41148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" y="4215384"/>
            <a:ext cx="704088" cy="292608"/>
          </a:xfrm>
          <a:prstGeom prst="roundRect">
            <a:avLst>
              <a:gd name="adj" fmla="val 37500"/>
            </a:avLst>
          </a:prstGeom>
          <a:solidFill>
            <a:srgbClr val="DFF2EB"/>
          </a:solidFill>
          <a:ln w="12700">
            <a:solidFill>
              <a:srgbClr val="DFF2E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4251960"/>
            <a:ext cx="65836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719072" y="4251960"/>
            <a:ext cx="46634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/advisors/{id}/summary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4251960"/>
            <a:ext cx="44348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Resumen agregado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" y="5074920"/>
            <a:ext cx="102412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SOAP/WSDL de referencia: RecomendarRecursos(studentId, limit) → recurso, score y explicación.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86384" y="5532120"/>
            <a:ext cx="10424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Diseño de contrato; antes de integrarlo se valida con una herramienta SOAP y se implementan seguridad y errores.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• USABILIDAD Y RESPONSABILIDAD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recomendación debe ser explicable y opcional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Evaluación heurística inicial basada en Nielsen; no reemplaza pruebas con estudiantes y asesores reales.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visible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acciones y mostrar filtros activos.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Lenguaje cercano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5429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“competencia” con ejemplos cotidianos.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47888" y="170078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47888" y="170078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84708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del usuario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49056" y="218541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Guardar, ocultar, cambiar preferencias y volver.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2E7E78"/>
          </a:solidFill>
          <a:ln w="12700">
            <a:solidFill>
              <a:srgbClr val="2E7E7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953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Mantener nombres, botones y etiquetas uniformes.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5312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312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3E8A63"/>
          </a:solidFill>
          <a:ln w="12700">
            <a:solidFill>
              <a:srgbClr val="3E8A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5429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Prevención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5429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puntajes, horas y entradas.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47888" y="3118104"/>
            <a:ext cx="34747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47888" y="3118104"/>
            <a:ext cx="64008" cy="1115568"/>
          </a:xfrm>
          <a:prstGeom prst="roundRect">
            <a:avLst>
              <a:gd name="adj" fmla="val 171429"/>
            </a:avLst>
          </a:prstGeom>
          <a:solidFill>
            <a:srgbClr val="F4C66B"/>
          </a:solidFill>
          <a:ln w="12700">
            <a:solidFill>
              <a:srgbClr val="F4C66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49056" y="3264408"/>
            <a:ext cx="309067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49056" y="3602736"/>
            <a:ext cx="3090672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Añadir glosario y soporte antes de producción.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4944" y="4956048"/>
            <a:ext cx="10835640" cy="841248"/>
          </a:xfrm>
          <a:prstGeom prst="roundRect">
            <a:avLst>
              <a:gd name="adj" fmla="val 13043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175504"/>
            <a:ext cx="103327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sintéticos • Privacidad por diseño • Control del estudiante • Supervisión humana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49808" y="6080760"/>
            <a:ext cx="100584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Referencias: Nielsen Norman Group (2024); ISO 9241-210:2019; Silva et al. (2023).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• EVALUACIÓN Y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Criterios medibles antes de afirmar que funciona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propone verificar pertinencia, diversidad, explicabilidad, usabilidad y rendimiento.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Precisión@5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424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Juicio de pertinencia por expertos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5312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Cobertura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7900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Recursos del catálogo recomendables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47888" y="1600200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09928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Diversidad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73768" y="1709928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Temas distintos entre sugerencias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Explicabilidad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8424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con al menos una razón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5312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Usabilidad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7900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Tareas completadas sin ayuda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47888" y="2670048"/>
            <a:ext cx="34747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2779776"/>
            <a:ext cx="11430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573768" y="2779776"/>
            <a:ext cx="1965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objetivo &lt; 2 s, por medir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3232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trabajo (6 iteraciones)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94944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51176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24328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07408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0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62272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36792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18504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119872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E8F4F0"/>
          </a:solidFill>
          <a:ln w="12700">
            <a:solidFill>
              <a:srgbClr val="E8F4F0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93024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174736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Neo4j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976104" y="4462272"/>
            <a:ext cx="1600200" cy="804672"/>
          </a:xfrm>
          <a:prstGeom prst="roundRect">
            <a:avLst>
              <a:gd name="adj" fmla="val 13636"/>
            </a:avLst>
          </a:prstGeom>
          <a:solidFill>
            <a:srgbClr val="FFF5DB"/>
          </a:solidFill>
          <a:ln w="12700">
            <a:solidFill>
              <a:srgbClr val="FFF5D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9256" y="4581144"/>
            <a:ext cx="144475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Iteración 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030968" y="4828032"/>
            <a:ext cx="1481328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y defensa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Evidencias que faltan capturar: HermiT en Protégé, consultas ejecutadas en Neo4j y cambios reales del repositorio.</a:t>
            </a:r>
            <a:endParaRPr lang="en-US" sz="12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• ENTREGA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834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paquete alineado con los entregables del curso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Documento, diagramas, prototipo, OWL, Cypher, contratos API y presentación.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944" y="161848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6479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79222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DOCX + PDF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322576" y="177393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técnico y guía de evidencias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91072" y="161848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76479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4808" y="179222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918704" y="177393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Prototipo navegable local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4944" y="267004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1635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4378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22576" y="282549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Ontología para Protégé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91072" y="267004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281635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284378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CYPHER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18704" y="282549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Semilla y consultas de Neo4j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372160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86791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89534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/ DOT / MMD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22576" y="387705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Diagramas renderizados y fuentes editables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1072" y="3721608"/>
            <a:ext cx="52120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CE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3867912"/>
            <a:ext cx="1298448" cy="256032"/>
          </a:xfrm>
          <a:prstGeom prst="roundRect">
            <a:avLst>
              <a:gd name="adj" fmla="val 42857"/>
            </a:avLst>
          </a:prstGeom>
          <a:solidFill>
            <a:srgbClr val="EAF4F6"/>
          </a:solidFill>
          <a:ln w="12700">
            <a:solidFill>
              <a:srgbClr val="EAF4F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895344"/>
            <a:ext cx="1207008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E7E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PPTX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18704" y="3877056"/>
            <a:ext cx="3337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834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sustentación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5074920"/>
            <a:ext cx="10716768" cy="685800"/>
          </a:xfrm>
          <a:prstGeom prst="roundRect">
            <a:avLst>
              <a:gd name="adj" fmla="val 16000"/>
            </a:avLst>
          </a:prstGeom>
          <a:solidFill>
            <a:srgbClr val="183448"/>
          </a:solidFill>
          <a:ln w="12700">
            <a:solidFill>
              <a:srgbClr val="1834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266944"/>
            <a:ext cx="10332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Brújula Académica: conecta una necesidad con recursos, razones y conocimiento.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679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Fuentes base: Murugesan et al. (2001) • Fielding (2000) • Hincapié &amp; Duitama (2012) • Noy &amp; McGuinness (2001) • W3C (2012) • Silva et al. (2023).</a:t>
            </a:r>
            <a:endParaRPr lang="en-US" sz="9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6798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1269</Words>
  <Application>Microsoft Office PowerPoint</Application>
  <PresentationFormat>Panorámica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Universidad Cooperativa de Colombia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Brújula Académica</dc:title>
  <dc:subject>Proyecto Final de Ingeniería Web</dc:subject>
  <dc:creator>Equipo del proyecto (completar)</dc:creator>
  <cp:lastModifiedBy>Jesus Manuel Rendon Echeverria</cp:lastModifiedBy>
  <cp:revision>3</cp:revision>
  <dcterms:created xsi:type="dcterms:W3CDTF">2026-10-09T15:03:41Z</dcterms:created>
  <dcterms:modified xsi:type="dcterms:W3CDTF">2026-10-27T16:03:32Z</dcterms:modified>
</cp:coreProperties>
</file>