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BRÚJULA ACADÉMICA  •  INGENIERÍA WEB  •  PERIODO 2620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519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CONCEPTUAL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1280160"/>
            <a:ext cx="2286000" cy="2286000"/>
          </a:xfrm>
          <a:prstGeom prst="ellipse">
            <a:avLst/>
          </a:prstGeom>
          <a:solidFill>
            <a:srgbClr val="183448">
              <a:alpha val="0"/>
            </a:srgbClr>
          </a:solidFill>
          <a:ln w="19050">
            <a:solidFill>
              <a:srgbClr val="4C8B8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0"/>
            <a:ext cx="1554480" cy="1554480"/>
          </a:xfrm>
          <a:prstGeom prst="ellipse">
            <a:avLst/>
          </a:prstGeom>
          <a:solidFill>
            <a:srgbClr val="183448">
              <a:alpha val="0"/>
            </a:srgbClr>
          </a:solidFill>
          <a:ln w="12700">
            <a:solidFill>
              <a:srgbClr val="4C8B8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1956816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6024" y="1975104"/>
            <a:ext cx="8046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⌖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713232" y="768096"/>
            <a:ext cx="6217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C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  •  INGENIERÍA 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67665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Brújula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Académica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49808" y="2971800"/>
            <a:ext cx="65836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7E7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web semántica de recomendaciones académicas para estudiantes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9808" y="402336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254E63"/>
          </a:solidFill>
          <a:ln w="12700">
            <a:solidFill>
              <a:srgbClr val="254E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133088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Recomendar con contexto. Explicar el porqué.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559612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7C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Cooperativa de Colombia  |  Facultad de Ingeniería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7C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 2620  •  Integrantes: [completar]  •  Docente: [completar]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6291072"/>
            <a:ext cx="5486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C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PARA APROBACIÓN DEL DOCENTE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Encontrar un recurso no es lo mismo que elegir el adecuado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conecta intereses, competencias, recursos y una explicación legible.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37360"/>
            <a:ext cx="64008" cy="182880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83664"/>
            <a:ext cx="3136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Catálogos dispersos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31363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tutoriales y cursos; cuesta comparar nivel, duración, modalidad y pertinencia.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737360"/>
            <a:ext cx="64008" cy="182880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883664"/>
            <a:ext cx="3136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superficial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221992"/>
            <a:ext cx="31363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coincidencia por palabra clave no explica cómo un recurso ayuda a lograr un objetivo.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37360"/>
            <a:ext cx="64008" cy="182880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883664"/>
            <a:ext cx="3136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Poca trazabilidad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7888" y="2221992"/>
            <a:ext cx="31363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 modelo compartido, es difícil relacionar temas, competencias y recomendaciones.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" y="3977640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233672"/>
            <a:ext cx="210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C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orientadora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07792" y="4187952"/>
            <a:ext cx="8183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diseñar una solución web semántica que recomiende recursos con explicación y permita consultar las relaciones que originan cada sugerencia?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responsable: apoyar el aprendizaje, sin calificar ni automatizar decisiones académicas de alto impacto.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ruta académica personalizada y explicable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recomendaciones combinan coincidencia temática, competencia objetivo, nivel y tiempo estimado.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691640"/>
            <a:ext cx="34564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91640"/>
            <a:ext cx="64008" cy="146304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3794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07238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 intereses, explora recursos y decide qué guardar o descartar.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4564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64008" cy="146304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3794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Asesor académico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76272"/>
            <a:ext cx="307238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necesidades agregadas para orientar talleres y material de apoyo.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691640"/>
            <a:ext cx="34564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691640"/>
            <a:ext cx="64008" cy="146304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3794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Curador de contenidos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176272"/>
            <a:ext cx="307238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recursos y su relación con temas, competencias, dificultad y duración.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356616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principales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123944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041648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intereses y objetivos académicos.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517136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434840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y filtrar catálogo por tema, nivel, modalidad y horas.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910328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4828032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recomendaciones con explicación del motivo.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5303520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221224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Guardar, ocultar, completar o valorar recursos.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5696712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5614416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grafo de conocimiento y resúmenes agregados.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3657600"/>
            <a:ext cx="3977640" cy="2057400"/>
          </a:xfrm>
          <a:prstGeom prst="roundRect">
            <a:avLst>
              <a:gd name="adj" fmla="val 5333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886200"/>
            <a:ext cx="3429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del proyecto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589520" y="4343400"/>
            <a:ext cx="33375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conceptual + prototipo navegable + OWL + consultas Cypher + contratos REST/SOAP.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0" y="5166360"/>
            <a:ext cx="3337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requieren datos reales ni una aplicación conectada a sistemas institucionales.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interfaz, lógica, semántica y persistencia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lógico en capas, no un despliegue productivo.</a:t>
            </a:r>
            <a:endParaRPr lang="en-US" sz="1200" dirty="0"/>
          </a:p>
        </p:txBody>
      </p:sp>
      <p:pic>
        <p:nvPicPr>
          <p:cNvPr id="5" name="Image 0" descr="/mnt/data/Brújula_Academica/diagramas/arquitectura_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8638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664208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32520" y="1664208"/>
            <a:ext cx="64008" cy="109728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33688" y="1810512"/>
            <a:ext cx="24505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33688" y="2148840"/>
            <a:ext cx="24505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uniforme con JSON y métodos HTTP.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32520" y="297180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32520" y="2971800"/>
            <a:ext cx="64008" cy="109728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33688" y="3118104"/>
            <a:ext cx="24505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OWL / Protégé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33688" y="3456432"/>
            <a:ext cx="24505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 formal, restricciones e inferencias.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32520" y="4279392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32520" y="4279392"/>
            <a:ext cx="64008" cy="109728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33688" y="4425696"/>
            <a:ext cx="24505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 / Cypher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933688" y="4764024"/>
            <a:ext cx="24505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por caminos y relaciones de conocimiento.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que orientan: Fielding (2000); Hincapié Londoño &amp; Duitama (2012).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METODOLOGÍA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UWE mantiene separados los modelos para evitar contradicciones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fases producen artefactos que se conectan con las necesidades de los usuarios.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Problema, actores, RF/RNF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7452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928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464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4648" y="222199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 y relaciones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87452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8928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940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79408" y="222199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y destinos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56616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y componentes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38328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56616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464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Lógica/servicios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8464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REST, reglas, grafo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338328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356616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7940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7940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y refinamiento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" y="5358384"/>
            <a:ext cx="10954512" cy="566928"/>
          </a:xfrm>
          <a:prstGeom prst="roundRect">
            <a:avLst>
              <a:gd name="adj" fmla="val 19355"/>
            </a:avLst>
          </a:prstGeom>
          <a:solidFill>
            <a:srgbClr val="FFF5DB"/>
          </a:solidFill>
          <a:ln w="12700">
            <a:solidFill>
              <a:srgbClr val="FFF5D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504688"/>
            <a:ext cx="10561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trazabilidad y revisión temprana. Límite: los modelos no prueban por sí solos la eficacia pedagógica.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MODELO CONCEPTUAL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entidades comparten un vocabulario de dominio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relaciones conectan interés, competencias, recursos, recomendaciones y retroalimentación.</a:t>
            </a:r>
            <a:endParaRPr lang="en-US" sz="1200" dirty="0"/>
          </a:p>
        </p:txBody>
      </p:sp>
      <p:pic>
        <p:nvPicPr>
          <p:cNvPr id="5" name="Image 0" descr="/mnt/data/Brújula_Academica/diagramas/modelo_concep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109728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961888"/>
            <a:ext cx="10607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OWL define dominios/rangos y restricciones sobre este vocabulario.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NAVEGACIÓN Y PROTOTIPO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principal se organiza por tareas del estudiante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→ perfil / autoevaluación → recomendaciones explicadas → detalle → retroalimentación.</a:t>
            </a:r>
            <a:endParaRPr lang="en-US" sz="1200" dirty="0"/>
          </a:p>
        </p:txBody>
      </p:sp>
      <p:pic>
        <p:nvPicPr>
          <p:cNvPr id="5" name="Image 0" descr="/mnt/data/Brújula_Academica/diagramas/modelo_navegac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56692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10528" y="160020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0528" y="1600200"/>
            <a:ext cx="5074920" cy="365760"/>
          </a:xfrm>
          <a:prstGeom prst="roundRect">
            <a:avLst>
              <a:gd name="adj" fmla="val 30000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93408" y="1719072"/>
            <a:ext cx="73152" cy="73152"/>
          </a:xfrm>
          <a:prstGeom prst="ellipse">
            <a:avLst/>
          </a:prstGeom>
          <a:solidFill>
            <a:srgbClr val="B5C7CE"/>
          </a:solidFill>
          <a:ln w="12700">
            <a:solidFill>
              <a:srgbClr val="B5C7CE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19072"/>
            <a:ext cx="73152" cy="73152"/>
          </a:xfrm>
          <a:prstGeom prst="ellipse">
            <a:avLst/>
          </a:prstGeom>
          <a:solidFill>
            <a:srgbClr val="B5C7CE"/>
          </a:solidFill>
          <a:ln w="12700">
            <a:solidFill>
              <a:srgbClr val="B5C7C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22592" y="1719072"/>
            <a:ext cx="73152" cy="73152"/>
          </a:xfrm>
          <a:prstGeom prst="ellipse">
            <a:avLst/>
          </a:prstGeom>
          <a:solidFill>
            <a:srgbClr val="B5C7CE"/>
          </a:solidFill>
          <a:ln w="12700">
            <a:solidFill>
              <a:srgbClr val="B5C7C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213055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Brújula Académica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93992" y="2496312"/>
            <a:ext cx="4526280" cy="777240"/>
          </a:xfrm>
          <a:prstGeom prst="roundRect">
            <a:avLst>
              <a:gd name="adj" fmla="val 14118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651760"/>
            <a:ext cx="4160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Hola, Ana. Pequeños pasos, grandes avances.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84848" y="3456432"/>
            <a:ext cx="4553712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31152" y="35935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361188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79792" y="3547872"/>
            <a:ext cx="2423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desde cero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66960" y="3547872"/>
            <a:ext cx="1143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 de afinidad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79792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Coincide con tu interés en programación.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84848" y="4443984"/>
            <a:ext cx="4553712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58114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4599432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79792" y="4535424"/>
            <a:ext cx="2423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Retos de lógica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966960" y="4535424"/>
            <a:ext cx="1143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88% de afinidad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79792" y="4828032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Refuerza una competencia por practicar.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3232" y="5943600"/>
            <a:ext cx="10698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HTML: filtros, búsqueda, vista por rol y acciones locales. Sin base de datos.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ONTOLOGÍA OWL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que un diagrama: una especificación semántica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BrujulaAcademica.owl incluye clases, propiedades, dominios/rangos, restricciones e individuos sintéticos.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11296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07408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propiedades de objeto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64224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60336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propiedades de datos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17152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1744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113264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 mínimas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" y="2999232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999232"/>
            <a:ext cx="64008" cy="141732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14553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3483864"/>
            <a:ext cx="30723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tiene exactamente un perfil; Recommendation se genera para un estudiante; cada recomendación sugiere algún recurso.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2999232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999232"/>
            <a:ext cx="64008" cy="141732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14553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inferida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483864"/>
            <a:ext cx="30723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recurso que fortalece una competencia de programación puede inferirse como ProgrammingResource.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65008" y="2999232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5008" y="2999232"/>
            <a:ext cx="64008" cy="141732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314553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requerida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66176" y="3483864"/>
            <a:ext cx="30723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en Protégé, ejecutar HermiT y capturar consistencia e individuos inferidos.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8920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5DB"/>
          </a:solidFill>
          <a:ln w="12700">
            <a:solidFill>
              <a:srgbClr val="FFF5D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02352"/>
            <a:ext cx="10469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afirmamos que el razonador ya fue ejecutado: las evidencias deben generarse en la instalación real del equipo.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5989320"/>
            <a:ext cx="9144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Fundamento: Noy &amp; McGuinness (2001); W3C (2012).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GRAFO DE CONOCIMIENTO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relaciones permiten encontrar sugerencias no registradas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estudiante → perfil → tema ← recurso puede crear candidatos nuevos y explicar la conexión.</a:t>
            </a:r>
            <a:endParaRPr lang="en-US" sz="1200" dirty="0"/>
          </a:p>
        </p:txBody>
      </p:sp>
      <p:pic>
        <p:nvPicPr>
          <p:cNvPr id="5" name="Image 0" descr="/mnt/data/Brújula_Academica/diagramas/grafo_conoci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9494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4592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18120" y="1645920"/>
            <a:ext cx="64008" cy="96012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19288" y="1792224"/>
            <a:ext cx="3364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1 • existentes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19288" y="2130552"/>
            <a:ext cx="33649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recomendó, puntaje, competencias y explicación.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278892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8120" y="2788920"/>
            <a:ext cx="64008" cy="96012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2935224"/>
            <a:ext cx="3364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2 • inferida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19288" y="3273552"/>
            <a:ext cx="33649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recursos por interés y competencia no registrada directamente.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393192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3931920"/>
            <a:ext cx="64008" cy="96012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4078224"/>
            <a:ext cx="3364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3 • agregado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19288" y="4416552"/>
            <a:ext cx="33649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por tema para orientar talleres, con controles de privacidad.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4944" y="5440680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577840"/>
            <a:ext cx="10424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de semilla + 4 consultas de negocio + consultas de verificación en Cypher.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SERVICIOS WEB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como interfaz principal; SOAP/WSDL para interoperabilidad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 conceptuales entregados en OpenAPI y WSDL. Las direcciones example.org son marcadores.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" y="1554480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9344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45920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19072" y="1645920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/students/{id}/profile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perfil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075688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30552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E7E1FA"/>
          </a:solidFill>
          <a:ln w="12700">
            <a:solidFill>
              <a:srgbClr val="E7E1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67128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9072" y="2167128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/students/{id}/profile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67128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intereses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" y="2596896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651760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688336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19072" y="2688336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/students/{id}/recommendations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688336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sugerencias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" y="3118104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172968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209544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19072" y="3209544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/resources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209544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catálogo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" y="3639312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694176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FCEED2"/>
          </a:solidFill>
          <a:ln w="12700">
            <a:solidFill>
              <a:srgbClr val="FCEE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730752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19072" y="3730752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/recommendations/{id}/feedback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730752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valoración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" y="4160520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215384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251960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19072" y="4251960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/advisors/{id}/summary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agregado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" y="5074920"/>
            <a:ext cx="10241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SOAP/WSDL de referencia: RecomendarRecursos(studentId, limit) → recurso, score y explicación.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6384" y="5532120"/>
            <a:ext cx="10424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contrato; antes de integrarlo se valida con una herramienta SOAP y se implementan seguridad y errores.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USABILIDAD Y RESPONSABILIDAD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recomendación debe ser explicable y opcional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heurística inicial basada en Nielsen; no reemplaza pruebas con estudiantes y asesores reales.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470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visible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18541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acciones y mostrar filtros activos.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170078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70078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8470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cercano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18541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“competencia” con ejemplos cotidianos.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47888" y="170078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170078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8470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del usuario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49056" y="218541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Guardar, ocultar, cambiar preferencias y volver.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11810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11810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6440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" y="360273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nombres, botones y etiquetas uniformes.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53128" y="311810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3128" y="311810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326440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54296" y="360273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puntajes, horas y entradas.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47888" y="311810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311810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326440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49056" y="360273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Añadir glosario y soporte antes de producción.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" y="4956048"/>
            <a:ext cx="10835640" cy="841248"/>
          </a:xfrm>
          <a:prstGeom prst="roundRect">
            <a:avLst>
              <a:gd name="adj" fmla="val 13043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75504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sintéticos • Privacidad por diseño • Control del estudiante • Supervisión humana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" y="6080760"/>
            <a:ext cx="10058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Referencias: Nielsen Norman Group (2024); ISO 9241-210:2019; Silva et al. (2023).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EVALUACIÓN Y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medibles antes de afirmar que funciona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propone verificar pertinencia, diversidad, explicabilidad, usabilidad y rendimiento.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Precisión@5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8424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Juicio de pertinencia por expertos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53128" y="160020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7900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del catálogo recomendables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47888" y="160020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Diversidad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7376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Temas distintos entre sugerencias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670048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797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84248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con al menos una razón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2670048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7797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79008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completadas sin ayuda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47888" y="2670048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7797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73768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objetivo &lt; 2 s, por medir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trabajo (6 iteraciones)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94944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1176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07408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62272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18504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19872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74736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76104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FFF5DB"/>
          </a:solidFill>
          <a:ln w="12700">
            <a:solidFill>
              <a:srgbClr val="FFF5D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9256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30968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defensa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 que faltan capturar: HermiT en Protégé, consultas ejecutadas en Neo4j y cambios reales del repositorio.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ENTREGA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paquete alineado con los entregables del curso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Documento, diagramas, prototipo, OWL, Cypher, contratos API y presentación.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61848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6479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9222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+ PDF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22576" y="177393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técnico y guía de evidencias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61848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76479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9222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18704" y="177393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navegable local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" y="267004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1635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4378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22576" y="282549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Ontología para Protégé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91072" y="267004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81635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84378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CYPHER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18704" y="282549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Semilla y consultas de Neo4j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372160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86791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9534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/ DOT / MMD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22576" y="387705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Diagramas renderizados y fuentes editables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1072" y="372160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386791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89534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18704" y="387705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sustentación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074920"/>
            <a:ext cx="10716768" cy="685800"/>
          </a:xfrm>
          <a:prstGeom prst="roundRect">
            <a:avLst>
              <a:gd name="adj" fmla="val 16000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Brújula Académica: conecta una necesidad con recursos, razones y conocimiento.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" y="5961888"/>
            <a:ext cx="10515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base: Murugesan et al. (2001) • Fielding (2000) • Hincapié &amp; Duitama (2012) • Noy &amp; McGuinness (2001) • W3C (2012) • Silva et al. (2023).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Universidad Cooperativa de 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Brújula Académica</dc:title>
  <dc:subject>Proyecto Final de Ingeniería Web</dc:subject>
  <dc:creator>Equipo del proyecto (completar)</dc:creator>
  <cp:lastModifiedBy>Equipo del proyecto (completar)</cp:lastModifiedBy>
  <cp:revision>1</cp:revision>
  <dcterms:created xsi:type="dcterms:W3CDTF">2026-10-09T15:03:41Z</dcterms:created>
  <dcterms:modified xsi:type="dcterms:W3CDTF">2026-10-09T15:03:41Z</dcterms:modified>
</cp:coreProperties>
</file>